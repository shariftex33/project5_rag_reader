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2" r:id="rId6"/>
    <p:sldId id="260" r:id="rId7"/>
    <p:sldId id="261"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CA540B2-35C1-697A-2CA7-360E8EC154E2}">
          <p14:sldIdLst>
            <p14:sldId id="256"/>
          </p14:sldIdLst>
        </p14:section>
        <p14:section name="Approach" id="{A4475C5F-C017-4817-2270-78AA4E6A1E09}">
          <p14:sldIdLst>
            <p14:sldId id="257"/>
            <p14:sldId id="258"/>
          </p14:sldIdLst>
        </p14:section>
        <p14:section name="Accuracy" id="{42AE97CB-96E1-EEC1-E681-F22D8CEA0AB4}">
          <p14:sldIdLst>
            <p14:sldId id="259"/>
            <p14:sldId id="262"/>
            <p14:sldId id="260"/>
          </p14:sldIdLst>
        </p14:section>
        <p14:section name="Wrap-up" id="{6B712125-D0BA-FF3C-60C7-8AB447F156DA}">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0000"/>
                </a:solidFill>
                <a:latin typeface="+mn-lt"/>
              </a:defRPr>
            </a:pPr>
            <a:r>
              <a:rPr lang="en-US" sz="1200" b="0" i="0" u="none" strike="noStrike">
                <a:solidFill>
                  <a:srgbClr val="000000"/>
                </a:solidFill>
                <a:latin typeface="+mn-lt"/>
              </a:rPr>
              <a:t>Mean over size/overlap grid (hash embedder)</a:t>
            </a:r>
          </a:p>
        </c:rich>
      </c:tx>
      <c:overlay val="0"/>
    </c:title>
    <c:autoTitleDeleted val="0"/>
    <c:plotArea>
      <c:layout/>
      <c:barChart>
        <c:barDir val="col"/>
        <c:grouping val="clustered"/>
        <c:varyColors val="0"/>
        <c:ser>
          <c:idx val="0"/>
          <c:order val="0"/>
          <c:tx>
            <c:strRef>
              <c:f>Sheet1!$B$1</c:f>
              <c:strCache>
                <c:ptCount val="1"/>
                <c:pt idx="0">
                  <c:v>Hit@3</c:v>
                </c:pt>
              </c:strCache>
            </c:strRef>
          </c:tx>
          <c:spPr>
            <a:solidFill>
              <a:srgbClr val="0E7C7B"/>
            </a:solidFill>
            <a:effectLst/>
          </c:spPr>
          <c:invertIfNegative val="0"/>
          <c:dLbls>
            <c:numFmt formatCode="0.00" sourceLinked="0"/>
            <c:spPr>
              <a:noFill/>
              <a:ln>
                <a:noFill/>
              </a:ln>
              <a:effectLst/>
            </c:spPr>
            <c:txPr>
              <a:bodyPr/>
              <a:lstStyle/>
              <a:p>
                <a:pPr>
                  <a:defRPr sz="10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fixed</c:v>
                </c:pt>
                <c:pt idx="1">
                  <c:v>recursive</c:v>
                </c:pt>
                <c:pt idx="2">
                  <c:v>sentence</c:v>
                </c:pt>
              </c:strCache>
            </c:strRef>
          </c:cat>
          <c:val>
            <c:numRef>
              <c:f>Sheet1!$B$2:$B$4</c:f>
              <c:numCache>
                <c:formatCode>General</c:formatCode>
                <c:ptCount val="3"/>
                <c:pt idx="0">
                  <c:v>0.76800000000000002</c:v>
                </c:pt>
                <c:pt idx="1">
                  <c:v>0.82399999999999995</c:v>
                </c:pt>
                <c:pt idx="2">
                  <c:v>0.91600000000000004</c:v>
                </c:pt>
              </c:numCache>
            </c:numRef>
          </c:val>
          <c:extLst>
            <c:ext xmlns:c16="http://schemas.microsoft.com/office/drawing/2014/chart" uri="{C3380CC4-5D6E-409C-BE32-E72D297353CC}">
              <c16:uniqueId val="{00000000-F0CC-466C-AB5E-137A381A29B4}"/>
            </c:ext>
          </c:extLst>
        </c:ser>
        <c:ser>
          <c:idx val="1"/>
          <c:order val="1"/>
          <c:tx>
            <c:strRef>
              <c:f>Sheet1!$C$1</c:f>
              <c:strCache>
                <c:ptCount val="1"/>
                <c:pt idx="0">
                  <c:v>MRR</c:v>
                </c:pt>
              </c:strCache>
            </c:strRef>
          </c:tx>
          <c:spPr>
            <a:solidFill>
              <a:srgbClr val="D17A22"/>
            </a:solidFill>
            <a:effectLst/>
          </c:spPr>
          <c:invertIfNegative val="0"/>
          <c:dLbls>
            <c:numFmt formatCode="0.00" sourceLinked="0"/>
            <c:spPr>
              <a:noFill/>
              <a:ln>
                <a:noFill/>
              </a:ln>
              <a:effectLst/>
            </c:spPr>
            <c:txPr>
              <a:bodyPr/>
              <a:lstStyle/>
              <a:p>
                <a:pPr>
                  <a:defRPr sz="10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fixed</c:v>
                </c:pt>
                <c:pt idx="1">
                  <c:v>recursive</c:v>
                </c:pt>
                <c:pt idx="2">
                  <c:v>sentence</c:v>
                </c:pt>
              </c:strCache>
            </c:strRef>
          </c:cat>
          <c:val>
            <c:numRef>
              <c:f>Sheet1!$C$2:$C$4</c:f>
              <c:numCache>
                <c:formatCode>General</c:formatCode>
                <c:ptCount val="3"/>
                <c:pt idx="0">
                  <c:v>0.69299999999999995</c:v>
                </c:pt>
                <c:pt idx="1">
                  <c:v>0.75600000000000001</c:v>
                </c:pt>
                <c:pt idx="2">
                  <c:v>0.82599999999999996</c:v>
                </c:pt>
              </c:numCache>
            </c:numRef>
          </c:val>
          <c:extLst>
            <c:ext xmlns:c16="http://schemas.microsoft.com/office/drawing/2014/chart" uri="{C3380CC4-5D6E-409C-BE32-E72D297353CC}">
              <c16:uniqueId val="{00000001-F0CC-466C-AB5E-137A381A29B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1E6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1223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Hi - this is Auto-Document Reader. You upload documents, ask questions in plain language, and get answers that are grounded in your files, with the exact passages shown. It runs fully locally with Ollama and qwen2.5:3b, or in the cloud with OpenAI - one switch in the sidebar.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Three reasons: models hallucinate, they don't know your private documents, and you want to be able to check the answer. RAG solves all three. The key design choice is a strict prompt: use only the numbered passages, cite them, and admit when the answer isn't there.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Five steps. Load and keep locators like page numbers. Chunk with overlap. Embed into ChromaDB - each chunking and embedding configuration has its own collection so I can compare them. At question time, a follow-up like 'and the internet allowance?' is rewritten into a standalone query using the chat history, then we run top-k similarity search across all selected documents, and the model answers with citations.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Accuracy here means two things: finding the right passage, and the answer staying faithful to it. For traceability, metadata travels with each chunk, passages are numbered in the prompt and the model must cite them. In the UI you can expand each source and see file, page, score and the actual text, so verifying is one click. If nothing relevant is retrieved the system says it couldn't find the answer instead of guessing.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C57F7-75A0-6E92-CD8B-A88374595B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61B48-93B0-6790-CF7A-BDB2F36A77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B9DD9-8C1B-BD47-55A6-6573C03689B6}"/>
              </a:ext>
            </a:extLst>
          </p:cNvPr>
          <p:cNvSpPr>
            <a:spLocks noGrp="1"/>
          </p:cNvSpPr>
          <p:nvPr>
            <p:ph type="body" idx="1"/>
          </p:nvPr>
        </p:nvSpPr>
        <p:spPr/>
        <p:txBody>
          <a:bodyPr/>
          <a:lstStyle/>
          <a:p>
            <a:r>
              <a:rPr lang="en-US" dirty="0"/>
              <a:t>(1:00) Accuracy here means two things: finding the right passage, and the answer staying faithful to it. For traceability, metadata travels with each chunk, passages are numbered in the prompt and the model must cite them. In the UI you can expand each source and see file, page, score and the actual text, so verifying is one click. If nothing relevant is retrieved the system says it couldn't find the answer instead of guessing.</a:t>
            </a:r>
          </a:p>
        </p:txBody>
      </p:sp>
      <p:sp>
        <p:nvSpPr>
          <p:cNvPr id="4" name="Slide Number Placeholder 3">
            <a:extLst>
              <a:ext uri="{FF2B5EF4-FFF2-40B4-BE49-F238E27FC236}">
                <a16:creationId xmlns:a16="http://schemas.microsoft.com/office/drawing/2014/main" id="{F882434D-1823-BA12-C903-B05372D2541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102409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I compared 3 chunking strategies, 3 sizes and 2 overlaps on 18 questions with known evidence. Metrics: Hit@3 - did a top-3 chunk contain the answer; MRR - how high it ranked. Sentence-aware chunking wins because fixed windows cut facts in half. 600 characters was the sweet spot. Honest caveat: these numbers are from the offline hashing embedder; the harness also compares MiniLM, Ollama and OpenAI embeddings plus answer correctness and groundedness - run it to fill in those rows. Sample is small, so one question is about 5 points.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Local gives privacy and zero cost, but a 3B model reasons less well, so keep context small. Cloud is stronger but not private. Next: hybrid search, a re-ranker, OCR, and a bigger evaluation set. Then a quick live demo: load samples, ask the stipend question, follow up about the internet allowance, expand the sources. Thank you. (Total about 5.5 minutes plus demo.)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chemeClr val="accent1"/>
          </a:solidFill>
          <a:ln/>
        </p:spPr>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71600"/>
            <a:ext cx="7680960" cy="1097280"/>
          </a:xfrm>
          <a:prstGeom prst="rect">
            <a:avLst/>
          </a:prstGeom>
          <a:noFill/>
          <a:ln/>
        </p:spPr>
        <p:txBody>
          <a:bodyPr wrap="square" lIns="0" tIns="0" rIns="0" bIns="0" rtlCol="0" anchor="ctr"/>
          <a:lstStyle/>
          <a:p>
            <a:pPr marL="0" indent="0">
              <a:buNone/>
            </a:pPr>
            <a:r>
              <a:rPr lang="en-US" sz="4000" b="1" dirty="0">
                <a:solidFill>
                  <a:schemeClr val="bg1"/>
                </a:solidFill>
              </a:rPr>
              <a:t>Auto-Document Reader</a:t>
            </a:r>
            <a:endParaRPr lang="en-US" sz="4000" dirty="0"/>
          </a:p>
        </p:txBody>
      </p:sp>
      <p:sp>
        <p:nvSpPr>
          <p:cNvPr id="3" name="Text 1"/>
          <p:cNvSpPr txBox="1"/>
          <p:nvPr/>
        </p:nvSpPr>
        <p:spPr>
          <a:xfrm>
            <a:off x="731520" y="2560320"/>
            <a:ext cx="7498080" cy="640080"/>
          </a:xfrm>
          <a:prstGeom prst="rect">
            <a:avLst/>
          </a:prstGeom>
          <a:noFill/>
          <a:ln/>
        </p:spPr>
        <p:txBody>
          <a:bodyPr wrap="square" lIns="0" tIns="0" rIns="0" bIns="0" rtlCol="0" anchor="ctr"/>
          <a:lstStyle/>
          <a:p>
            <a:pPr marL="0" indent="0">
              <a:buNone/>
            </a:pPr>
            <a:r>
              <a:rPr lang="en-US" sz="1800" dirty="0">
                <a:solidFill>
                  <a:srgbClr val="BFD8D2"/>
                </a:solidFill>
              </a:rPr>
              <a:t>Retrieval-Augmented Q&amp;A with traceable sources - local (Ollama qwen2.5:3b) or cloud (OpenAI)</a:t>
            </a:r>
            <a:endParaRPr lang="en-US" sz="1800" dirty="0"/>
          </a:p>
        </p:txBody>
      </p:sp>
      <p:sp>
        <p:nvSpPr>
          <p:cNvPr id="4" name="Text 2"/>
          <p:cNvSpPr txBox="1"/>
          <p:nvPr/>
        </p:nvSpPr>
        <p:spPr>
          <a:xfrm>
            <a:off x="731520" y="4206240"/>
            <a:ext cx="7315200" cy="365760"/>
          </a:xfrm>
          <a:prstGeom prst="rect">
            <a:avLst/>
          </a:prstGeom>
          <a:noFill/>
          <a:ln/>
        </p:spPr>
        <p:txBody>
          <a:bodyPr wrap="square" lIns="0" tIns="0" rIns="0" bIns="0" rtlCol="0" anchor="ctr"/>
          <a:lstStyle/>
          <a:p>
            <a:pPr marL="0" indent="0">
              <a:buNone/>
            </a:pPr>
            <a:r>
              <a:rPr lang="en-US" sz="1300" dirty="0">
                <a:solidFill>
                  <a:srgbClr val="8FB8B0"/>
                </a:solidFill>
              </a:rPr>
              <a:t>PDF · DOCX · TXT · Web  |  ChromaDB  |  Streamlit</a:t>
            </a:r>
            <a:endParaRPr lang="en-US" sz="1300" dirty="0"/>
          </a:p>
        </p:txBody>
      </p:sp>
      <p:sp>
        <p:nvSpPr>
          <p:cNvPr id="6" name="Text 2">
            <a:extLst>
              <a:ext uri="{FF2B5EF4-FFF2-40B4-BE49-F238E27FC236}">
                <a16:creationId xmlns:a16="http://schemas.microsoft.com/office/drawing/2014/main" id="{68442C9E-FB96-BC85-E8EF-8ADB3C2B59F1}"/>
              </a:ext>
            </a:extLst>
          </p:cNvPr>
          <p:cNvSpPr txBox="1"/>
          <p:nvPr/>
        </p:nvSpPr>
        <p:spPr>
          <a:xfrm>
            <a:off x="7813765" y="4724400"/>
            <a:ext cx="1197429" cy="365760"/>
          </a:xfrm>
          <a:prstGeom prst="rect">
            <a:avLst/>
          </a:prstGeom>
          <a:noFill/>
          <a:ln/>
        </p:spPr>
        <p:txBody>
          <a:bodyPr wrap="square" lIns="0" tIns="0" rIns="0" bIns="0" rtlCol="0" anchor="ctr"/>
          <a:lstStyle/>
          <a:p>
            <a:pPr marL="0" indent="0">
              <a:buNone/>
            </a:pPr>
            <a:r>
              <a:rPr lang="tr-TR" sz="1300" dirty="0" err="1">
                <a:solidFill>
                  <a:srgbClr val="8FB8B0"/>
                </a:solidFill>
              </a:rPr>
              <a:t>By</a:t>
            </a:r>
            <a:r>
              <a:rPr lang="tr-TR" sz="1300" dirty="0">
                <a:solidFill>
                  <a:srgbClr val="8FB8B0"/>
                </a:solidFill>
              </a:rPr>
              <a:t> </a:t>
            </a:r>
            <a:r>
              <a:rPr lang="tr-TR" sz="1300" dirty="0" err="1">
                <a:solidFill>
                  <a:srgbClr val="8FB8B0"/>
                </a:solidFill>
              </a:rPr>
              <a:t>Sharif</a:t>
            </a:r>
            <a:r>
              <a:rPr lang="tr-TR" sz="1300" dirty="0">
                <a:solidFill>
                  <a:srgbClr val="8FB8B0"/>
                </a:solidFill>
              </a:rPr>
              <a:t> Ahmed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2800" b="1" dirty="0">
                <a:solidFill>
                  <a:schemeClr val="tx2"/>
                </a:solidFill>
              </a:rPr>
              <a:t>Why RAG instead of just asking the model?</a:t>
            </a:r>
            <a:endParaRPr lang="en-US" sz="2800" dirty="0"/>
          </a:p>
        </p:txBody>
      </p:sp>
      <p:sp>
        <p:nvSpPr>
          <p:cNvPr id="3" name="card"/>
          <p:cNvSpPr/>
          <p:nvPr/>
        </p:nvSpPr>
        <p:spPr>
          <a:xfrm>
            <a:off x="548640" y="1280160"/>
            <a:ext cx="2560320" cy="2377440"/>
          </a:xfrm>
          <a:prstGeom prst="rect">
            <a:avLst/>
          </a:prstGeom>
          <a:solidFill>
            <a:schemeClr val="bg2"/>
          </a:solidFill>
          <a:ln w="12700">
            <a:solidFill>
              <a:schemeClr val="bg2"/>
            </a:solidFill>
            <a:prstDash val="solid"/>
          </a:ln>
        </p:spPr>
        <p:txBody>
          <a:bodyPr/>
          <a:lstStyle/>
          <a:p>
            <a:endParaRPr lang="en-US"/>
          </a:p>
        </p:txBody>
      </p:sp>
      <p:sp>
        <p:nvSpPr>
          <p:cNvPr id="4" name="Shape 2"/>
          <p:cNvSpPr/>
          <p:nvPr/>
        </p:nvSpPr>
        <p:spPr>
          <a:xfrm>
            <a:off x="548640" y="1280160"/>
            <a:ext cx="54864" cy="2377440"/>
          </a:xfrm>
          <a:prstGeom prst="rect">
            <a:avLst/>
          </a:prstGeom>
          <a:solidFill>
            <a:schemeClr val="accent5"/>
          </a:solidFill>
          <a:ln w="12700">
            <a:solidFill>
              <a:schemeClr val="accent5"/>
            </a:solidFill>
            <a:prstDash val="solid"/>
          </a:ln>
        </p:spPr>
        <p:txBody>
          <a:bodyPr/>
          <a:lstStyle/>
          <a:p>
            <a:endParaRPr lang="en-US"/>
          </a:p>
        </p:txBody>
      </p:sp>
      <p:sp>
        <p:nvSpPr>
          <p:cNvPr id="5" name="Text 3"/>
          <p:cNvSpPr txBox="1"/>
          <p:nvPr/>
        </p:nvSpPr>
        <p:spPr>
          <a:xfrm>
            <a:off x="731520" y="1371600"/>
            <a:ext cx="2286000" cy="365760"/>
          </a:xfrm>
          <a:prstGeom prst="rect">
            <a:avLst/>
          </a:prstGeom>
          <a:noFill/>
          <a:ln/>
        </p:spPr>
        <p:txBody>
          <a:bodyPr wrap="square" lIns="0" tIns="0" rIns="0" bIns="0" rtlCol="0" anchor="ctr"/>
          <a:lstStyle/>
          <a:p>
            <a:pPr marL="0" indent="0">
              <a:buNone/>
            </a:pPr>
            <a:r>
              <a:rPr lang="en-US" sz="1500" b="1" dirty="0">
                <a:solidFill>
                  <a:schemeClr val="tx2"/>
                </a:solidFill>
              </a:rPr>
              <a:t>Hallucination</a:t>
            </a:r>
            <a:endParaRPr lang="en-US" sz="1500" dirty="0"/>
          </a:p>
        </p:txBody>
      </p:sp>
      <p:sp>
        <p:nvSpPr>
          <p:cNvPr id="6" name="Text 4"/>
          <p:cNvSpPr txBox="1"/>
          <p:nvPr/>
        </p:nvSpPr>
        <p:spPr>
          <a:xfrm>
            <a:off x="731520" y="1755648"/>
            <a:ext cx="2286000" cy="1828800"/>
          </a:xfrm>
          <a:prstGeom prst="rect">
            <a:avLst/>
          </a:prstGeom>
          <a:noFill/>
          <a:ln/>
        </p:spPr>
        <p:txBody>
          <a:bodyPr wrap="square" lIns="0" tIns="0" rIns="0" bIns="0" rtlCol="0" anchor="t"/>
          <a:lstStyle/>
          <a:p>
            <a:pPr marL="0" indent="0">
              <a:buNone/>
            </a:pPr>
            <a:r>
              <a:rPr lang="en-US" sz="1200" dirty="0">
                <a:solidFill>
                  <a:schemeClr val="tx1"/>
                </a:solidFill>
              </a:rPr>
              <a:t>LLMs produce fluent but unsupported claims. Retrieval gives them evidence to stay within.</a:t>
            </a:r>
            <a:endParaRPr lang="en-US" sz="1200" dirty="0"/>
          </a:p>
        </p:txBody>
      </p:sp>
      <p:sp>
        <p:nvSpPr>
          <p:cNvPr id="7" name="card"/>
          <p:cNvSpPr/>
          <p:nvPr/>
        </p:nvSpPr>
        <p:spPr>
          <a:xfrm>
            <a:off x="3291840" y="1280160"/>
            <a:ext cx="2560320" cy="2377440"/>
          </a:xfrm>
          <a:prstGeom prst="rect">
            <a:avLst/>
          </a:prstGeom>
          <a:solidFill>
            <a:schemeClr val="bg2"/>
          </a:solidFill>
          <a:ln w="12700">
            <a:solidFill>
              <a:schemeClr val="bg2"/>
            </a:solidFill>
            <a:prstDash val="solid"/>
          </a:ln>
        </p:spPr>
        <p:txBody>
          <a:bodyPr/>
          <a:lstStyle/>
          <a:p>
            <a:endParaRPr lang="en-US"/>
          </a:p>
        </p:txBody>
      </p:sp>
      <p:sp>
        <p:nvSpPr>
          <p:cNvPr id="8" name="Shape 6"/>
          <p:cNvSpPr/>
          <p:nvPr/>
        </p:nvSpPr>
        <p:spPr>
          <a:xfrm>
            <a:off x="3291840" y="1280160"/>
            <a:ext cx="54864" cy="2377440"/>
          </a:xfrm>
          <a:prstGeom prst="rect">
            <a:avLst/>
          </a:prstGeom>
          <a:solidFill>
            <a:schemeClr val="accent2"/>
          </a:solidFill>
          <a:ln w="12700">
            <a:solidFill>
              <a:schemeClr val="accent2"/>
            </a:solidFill>
            <a:prstDash val="solid"/>
          </a:ln>
        </p:spPr>
        <p:txBody>
          <a:bodyPr/>
          <a:lstStyle/>
          <a:p>
            <a:endParaRPr lang="en-US"/>
          </a:p>
        </p:txBody>
      </p:sp>
      <p:sp>
        <p:nvSpPr>
          <p:cNvPr id="9" name="Text 7"/>
          <p:cNvSpPr txBox="1"/>
          <p:nvPr/>
        </p:nvSpPr>
        <p:spPr>
          <a:xfrm>
            <a:off x="3474720" y="1371600"/>
            <a:ext cx="2286000" cy="365760"/>
          </a:xfrm>
          <a:prstGeom prst="rect">
            <a:avLst/>
          </a:prstGeom>
          <a:noFill/>
          <a:ln/>
        </p:spPr>
        <p:txBody>
          <a:bodyPr wrap="square" lIns="0" tIns="0" rIns="0" bIns="0" rtlCol="0" anchor="ctr"/>
          <a:lstStyle/>
          <a:p>
            <a:pPr marL="0" indent="0">
              <a:buNone/>
            </a:pPr>
            <a:r>
              <a:rPr lang="en-US" sz="1500" b="1" dirty="0">
                <a:solidFill>
                  <a:schemeClr val="tx2"/>
                </a:solidFill>
              </a:rPr>
              <a:t>Private &amp; fresh data</a:t>
            </a:r>
            <a:endParaRPr lang="en-US" sz="1500" dirty="0"/>
          </a:p>
        </p:txBody>
      </p:sp>
      <p:sp>
        <p:nvSpPr>
          <p:cNvPr id="10" name="Text 8"/>
          <p:cNvSpPr txBox="1"/>
          <p:nvPr/>
        </p:nvSpPr>
        <p:spPr>
          <a:xfrm>
            <a:off x="3474720" y="1755648"/>
            <a:ext cx="2286000" cy="1828800"/>
          </a:xfrm>
          <a:prstGeom prst="rect">
            <a:avLst/>
          </a:prstGeom>
          <a:noFill/>
          <a:ln/>
        </p:spPr>
        <p:txBody>
          <a:bodyPr wrap="square" lIns="0" tIns="0" rIns="0" bIns="0" rtlCol="0" anchor="t"/>
          <a:lstStyle/>
          <a:p>
            <a:pPr marL="0" indent="0">
              <a:buNone/>
            </a:pPr>
            <a:r>
              <a:rPr lang="en-US" sz="1200" dirty="0">
                <a:solidFill>
                  <a:schemeClr val="tx1"/>
                </a:solidFill>
              </a:rPr>
              <a:t>Models have a cutoff and never saw your files. Documents can be added without retraining.</a:t>
            </a:r>
            <a:endParaRPr lang="en-US" sz="1200" dirty="0"/>
          </a:p>
        </p:txBody>
      </p:sp>
      <p:sp>
        <p:nvSpPr>
          <p:cNvPr id="11" name="card"/>
          <p:cNvSpPr/>
          <p:nvPr/>
        </p:nvSpPr>
        <p:spPr>
          <a:xfrm>
            <a:off x="6035040" y="1280160"/>
            <a:ext cx="2560320" cy="2377440"/>
          </a:xfrm>
          <a:prstGeom prst="rect">
            <a:avLst/>
          </a:prstGeom>
          <a:solidFill>
            <a:schemeClr val="bg2"/>
          </a:solidFill>
          <a:ln w="12700">
            <a:solidFill>
              <a:schemeClr val="bg2"/>
            </a:solidFill>
            <a:prstDash val="solid"/>
          </a:ln>
        </p:spPr>
        <p:txBody>
          <a:bodyPr/>
          <a:lstStyle/>
          <a:p>
            <a:endParaRPr lang="en-US"/>
          </a:p>
        </p:txBody>
      </p:sp>
      <p:sp>
        <p:nvSpPr>
          <p:cNvPr id="12" name="Shape 10"/>
          <p:cNvSpPr/>
          <p:nvPr/>
        </p:nvSpPr>
        <p:spPr>
          <a:xfrm>
            <a:off x="6035040" y="1280160"/>
            <a:ext cx="54864" cy="2377440"/>
          </a:xfrm>
          <a:prstGeom prst="rect">
            <a:avLst/>
          </a:prstGeom>
          <a:solidFill>
            <a:schemeClr val="accent1"/>
          </a:solidFill>
          <a:ln w="12700">
            <a:solidFill>
              <a:schemeClr val="accent1"/>
            </a:solidFill>
            <a:prstDash val="solid"/>
          </a:ln>
        </p:spPr>
        <p:txBody>
          <a:bodyPr/>
          <a:lstStyle/>
          <a:p>
            <a:endParaRPr lang="en-US"/>
          </a:p>
        </p:txBody>
      </p:sp>
      <p:sp>
        <p:nvSpPr>
          <p:cNvPr id="13" name="Text 11"/>
          <p:cNvSpPr txBox="1"/>
          <p:nvPr/>
        </p:nvSpPr>
        <p:spPr>
          <a:xfrm>
            <a:off x="6217920" y="1371600"/>
            <a:ext cx="2286000" cy="365760"/>
          </a:xfrm>
          <a:prstGeom prst="rect">
            <a:avLst/>
          </a:prstGeom>
          <a:noFill/>
          <a:ln/>
        </p:spPr>
        <p:txBody>
          <a:bodyPr wrap="square" lIns="0" tIns="0" rIns="0" bIns="0" rtlCol="0" anchor="ctr"/>
          <a:lstStyle/>
          <a:p>
            <a:pPr marL="0" indent="0">
              <a:buNone/>
            </a:pPr>
            <a:r>
              <a:rPr lang="en-US" sz="1500" b="1" dirty="0">
                <a:solidFill>
                  <a:schemeClr val="tx2"/>
                </a:solidFill>
              </a:rPr>
              <a:t>Traceability</a:t>
            </a:r>
            <a:endParaRPr lang="en-US" sz="1500" dirty="0"/>
          </a:p>
        </p:txBody>
      </p:sp>
      <p:sp>
        <p:nvSpPr>
          <p:cNvPr id="14" name="Text 12"/>
          <p:cNvSpPr txBox="1"/>
          <p:nvPr/>
        </p:nvSpPr>
        <p:spPr>
          <a:xfrm>
            <a:off x="6217920" y="1755648"/>
            <a:ext cx="2286000" cy="1828800"/>
          </a:xfrm>
          <a:prstGeom prst="rect">
            <a:avLst/>
          </a:prstGeom>
          <a:noFill/>
          <a:ln/>
        </p:spPr>
        <p:txBody>
          <a:bodyPr wrap="square" lIns="0" tIns="0" rIns="0" bIns="0" rtlCol="0" anchor="t"/>
          <a:lstStyle/>
          <a:p>
            <a:pPr marL="0" indent="0">
              <a:buNone/>
            </a:pPr>
            <a:r>
              <a:rPr lang="en-US" sz="1200" dirty="0">
                <a:solidFill>
                  <a:schemeClr val="tx1"/>
                </a:solidFill>
              </a:rPr>
              <a:t>Every answer cites [n] passages with file and page, so a human can verify in seconds.</a:t>
            </a:r>
            <a:endParaRPr lang="en-US" sz="1200" dirty="0"/>
          </a:p>
        </p:txBody>
      </p:sp>
      <p:sp>
        <p:nvSpPr>
          <p:cNvPr id="15" name="Text 13"/>
          <p:cNvSpPr txBox="1"/>
          <p:nvPr/>
        </p:nvSpPr>
        <p:spPr>
          <a:xfrm>
            <a:off x="548640" y="3749040"/>
            <a:ext cx="8046720" cy="548640"/>
          </a:xfrm>
          <a:prstGeom prst="rect">
            <a:avLst/>
          </a:prstGeom>
          <a:noFill/>
          <a:ln/>
        </p:spPr>
        <p:txBody>
          <a:bodyPr wrap="square" lIns="0" tIns="0" rIns="0" bIns="0" rtlCol="0" anchor="ctr"/>
          <a:lstStyle/>
          <a:p>
            <a:pPr marL="0" indent="0">
              <a:buNone/>
            </a:pPr>
            <a:r>
              <a:rPr lang="en-US" sz="1300" i="1" dirty="0">
                <a:solidFill>
                  <a:schemeClr val="tx1"/>
                </a:solidFill>
              </a:rPr>
              <a:t>Rule in the prompt: answer only from the context, cite sources, otherwise say "I couldn't find that in the uploaded documents."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2800" b="1" dirty="0">
                <a:solidFill>
                  <a:schemeClr val="tx2"/>
                </a:solidFill>
              </a:rPr>
              <a:t>The pipeline</a:t>
            </a:r>
            <a:endParaRPr lang="en-US" sz="2800" dirty="0"/>
          </a:p>
        </p:txBody>
      </p:sp>
      <p:sp>
        <p:nvSpPr>
          <p:cNvPr id="3" name="step"/>
          <p:cNvSpPr/>
          <p:nvPr/>
        </p:nvSpPr>
        <p:spPr>
          <a:xfrm>
            <a:off x="548640" y="1463040"/>
            <a:ext cx="1481328" cy="2103120"/>
          </a:xfrm>
          <a:prstGeom prst="roundRect">
            <a:avLst>
              <a:gd name="adj" fmla="val 4938"/>
            </a:avLst>
          </a:prstGeom>
          <a:solidFill>
            <a:schemeClr val="accent1"/>
          </a:solidFill>
          <a:ln w="12700">
            <a:solidFill>
              <a:schemeClr val="bg1"/>
            </a:solidFill>
            <a:prstDash val="solid"/>
          </a:ln>
        </p:spPr>
        <p:txBody>
          <a:bodyPr/>
          <a:lstStyle/>
          <a:p>
            <a:endParaRPr lang="en-US"/>
          </a:p>
        </p:txBody>
      </p:sp>
      <p:sp>
        <p:nvSpPr>
          <p:cNvPr id="4" name="Text 2"/>
          <p:cNvSpPr txBox="1"/>
          <p:nvPr/>
        </p:nvSpPr>
        <p:spPr>
          <a:xfrm>
            <a:off x="640080" y="1554480"/>
            <a:ext cx="1298448" cy="457200"/>
          </a:xfrm>
          <a:prstGeom prst="rect">
            <a:avLst/>
          </a:prstGeom>
          <a:noFill/>
          <a:ln/>
        </p:spPr>
        <p:txBody>
          <a:bodyPr wrap="square" lIns="0" tIns="0" rIns="0" bIns="0" rtlCol="0" anchor="ctr"/>
          <a:lstStyle/>
          <a:p>
            <a:pPr marL="0" indent="0">
              <a:buNone/>
            </a:pPr>
            <a:r>
              <a:rPr lang="en-US" sz="1400" b="1" dirty="0">
                <a:solidFill>
                  <a:schemeClr val="bg1"/>
                </a:solidFill>
              </a:rPr>
              <a:t>1  Load</a:t>
            </a:r>
            <a:endParaRPr lang="en-US" sz="1400" dirty="0"/>
          </a:p>
        </p:txBody>
      </p:sp>
      <p:sp>
        <p:nvSpPr>
          <p:cNvPr id="5" name="Text 3"/>
          <p:cNvSpPr txBox="1"/>
          <p:nvPr/>
        </p:nvSpPr>
        <p:spPr>
          <a:xfrm>
            <a:off x="640080" y="2057400"/>
            <a:ext cx="1298448" cy="1371600"/>
          </a:xfrm>
          <a:prstGeom prst="rect">
            <a:avLst/>
          </a:prstGeom>
          <a:noFill/>
          <a:ln/>
        </p:spPr>
        <p:txBody>
          <a:bodyPr wrap="square" lIns="0" tIns="0" rIns="0" bIns="0" rtlCol="0" anchor="t"/>
          <a:lstStyle/>
          <a:p>
            <a:pPr marL="0" indent="0">
              <a:buNone/>
            </a:pPr>
            <a:r>
              <a:rPr lang="en-US" sz="1100" dirty="0">
                <a:solidFill>
                  <a:schemeClr val="bg1"/>
                </a:solidFill>
              </a:rPr>
              <a:t>PDF, DOCX, TXT, URL -&gt; text with page / heading locators</a:t>
            </a:r>
            <a:endParaRPr lang="en-US" sz="1100" dirty="0"/>
          </a:p>
        </p:txBody>
      </p:sp>
      <p:sp>
        <p:nvSpPr>
          <p:cNvPr id="6" name="step"/>
          <p:cNvSpPr/>
          <p:nvPr/>
        </p:nvSpPr>
        <p:spPr>
          <a:xfrm>
            <a:off x="2176272" y="1463040"/>
            <a:ext cx="1481328" cy="2103120"/>
          </a:xfrm>
          <a:prstGeom prst="roundRect">
            <a:avLst>
              <a:gd name="adj" fmla="val 4938"/>
            </a:avLst>
          </a:prstGeom>
          <a:solidFill>
            <a:schemeClr val="accent3"/>
          </a:solidFill>
          <a:ln w="12700">
            <a:solidFill>
              <a:schemeClr val="bg1"/>
            </a:solidFill>
            <a:prstDash val="solid"/>
          </a:ln>
        </p:spPr>
        <p:txBody>
          <a:bodyPr/>
          <a:lstStyle/>
          <a:p>
            <a:endParaRPr lang="en-US"/>
          </a:p>
        </p:txBody>
      </p:sp>
      <p:sp>
        <p:nvSpPr>
          <p:cNvPr id="7" name="Text 5"/>
          <p:cNvSpPr txBox="1"/>
          <p:nvPr/>
        </p:nvSpPr>
        <p:spPr>
          <a:xfrm>
            <a:off x="2267712" y="1554480"/>
            <a:ext cx="1298448" cy="457200"/>
          </a:xfrm>
          <a:prstGeom prst="rect">
            <a:avLst/>
          </a:prstGeom>
          <a:noFill/>
          <a:ln/>
        </p:spPr>
        <p:txBody>
          <a:bodyPr wrap="square" lIns="0" tIns="0" rIns="0" bIns="0" rtlCol="0" anchor="ctr"/>
          <a:lstStyle/>
          <a:p>
            <a:pPr marL="0" indent="0">
              <a:buNone/>
            </a:pPr>
            <a:r>
              <a:rPr lang="en-US" sz="1400" b="1" dirty="0">
                <a:solidFill>
                  <a:schemeClr val="bg1"/>
                </a:solidFill>
              </a:rPr>
              <a:t>2  Chunk</a:t>
            </a:r>
            <a:endParaRPr lang="en-US" sz="1400" dirty="0"/>
          </a:p>
        </p:txBody>
      </p:sp>
      <p:sp>
        <p:nvSpPr>
          <p:cNvPr id="8" name="Text 6"/>
          <p:cNvSpPr txBox="1"/>
          <p:nvPr/>
        </p:nvSpPr>
        <p:spPr>
          <a:xfrm>
            <a:off x="2267712" y="2057400"/>
            <a:ext cx="1298448" cy="1371600"/>
          </a:xfrm>
          <a:prstGeom prst="rect">
            <a:avLst/>
          </a:prstGeom>
          <a:noFill/>
          <a:ln/>
        </p:spPr>
        <p:txBody>
          <a:bodyPr wrap="square" lIns="0" tIns="0" rIns="0" bIns="0" rtlCol="0" anchor="t"/>
          <a:lstStyle/>
          <a:p>
            <a:pPr marL="0" indent="0">
              <a:buNone/>
            </a:pPr>
            <a:r>
              <a:rPr lang="en-US" sz="1100" dirty="0">
                <a:solidFill>
                  <a:schemeClr val="bg1"/>
                </a:solidFill>
              </a:rPr>
              <a:t>Split with overlap: fixed, recursive or sentence</a:t>
            </a:r>
            <a:endParaRPr lang="en-US" sz="1100" dirty="0"/>
          </a:p>
        </p:txBody>
      </p:sp>
      <p:sp>
        <p:nvSpPr>
          <p:cNvPr id="9" name="step"/>
          <p:cNvSpPr/>
          <p:nvPr/>
        </p:nvSpPr>
        <p:spPr>
          <a:xfrm>
            <a:off x="3803904" y="1463040"/>
            <a:ext cx="1481328" cy="2103120"/>
          </a:xfrm>
          <a:prstGeom prst="roundRect">
            <a:avLst>
              <a:gd name="adj" fmla="val 4938"/>
            </a:avLst>
          </a:prstGeom>
          <a:solidFill>
            <a:schemeClr val="accent1"/>
          </a:solidFill>
          <a:ln w="12700">
            <a:solidFill>
              <a:schemeClr val="bg1"/>
            </a:solidFill>
            <a:prstDash val="solid"/>
          </a:ln>
        </p:spPr>
        <p:txBody>
          <a:bodyPr/>
          <a:lstStyle/>
          <a:p>
            <a:endParaRPr lang="en-US"/>
          </a:p>
        </p:txBody>
      </p:sp>
      <p:sp>
        <p:nvSpPr>
          <p:cNvPr id="10" name="Text 8"/>
          <p:cNvSpPr txBox="1"/>
          <p:nvPr/>
        </p:nvSpPr>
        <p:spPr>
          <a:xfrm>
            <a:off x="3895344" y="1554480"/>
            <a:ext cx="1298448" cy="457200"/>
          </a:xfrm>
          <a:prstGeom prst="rect">
            <a:avLst/>
          </a:prstGeom>
          <a:noFill/>
          <a:ln/>
        </p:spPr>
        <p:txBody>
          <a:bodyPr wrap="square" lIns="0" tIns="0" rIns="0" bIns="0" rtlCol="0" anchor="ctr"/>
          <a:lstStyle/>
          <a:p>
            <a:pPr marL="0" indent="0">
              <a:buNone/>
            </a:pPr>
            <a:r>
              <a:rPr lang="en-US" sz="1400" b="1" dirty="0">
                <a:solidFill>
                  <a:schemeClr val="bg1"/>
                </a:solidFill>
              </a:rPr>
              <a:t>3  Embed + store</a:t>
            </a:r>
            <a:endParaRPr lang="en-US" sz="1400" dirty="0"/>
          </a:p>
        </p:txBody>
      </p:sp>
      <p:sp>
        <p:nvSpPr>
          <p:cNvPr id="11" name="Text 9"/>
          <p:cNvSpPr txBox="1"/>
          <p:nvPr/>
        </p:nvSpPr>
        <p:spPr>
          <a:xfrm>
            <a:off x="3895344" y="2057400"/>
            <a:ext cx="1298448" cy="1371600"/>
          </a:xfrm>
          <a:prstGeom prst="rect">
            <a:avLst/>
          </a:prstGeom>
          <a:noFill/>
          <a:ln/>
        </p:spPr>
        <p:txBody>
          <a:bodyPr wrap="square" lIns="0" tIns="0" rIns="0" bIns="0" rtlCol="0" anchor="t"/>
          <a:lstStyle/>
          <a:p>
            <a:pPr marL="0" indent="0">
              <a:buNone/>
            </a:pPr>
            <a:r>
              <a:rPr lang="en-US" sz="1100" dirty="0">
                <a:solidFill>
                  <a:schemeClr val="bg1"/>
                </a:solidFill>
              </a:rPr>
              <a:t>MiniLM / Ollama / OpenAI vectors in ChromaDB</a:t>
            </a:r>
            <a:endParaRPr lang="en-US" sz="1100" dirty="0"/>
          </a:p>
        </p:txBody>
      </p:sp>
      <p:sp>
        <p:nvSpPr>
          <p:cNvPr id="12" name="step"/>
          <p:cNvSpPr/>
          <p:nvPr/>
        </p:nvSpPr>
        <p:spPr>
          <a:xfrm>
            <a:off x="5431536" y="1463040"/>
            <a:ext cx="1481328" cy="2103120"/>
          </a:xfrm>
          <a:prstGeom prst="roundRect">
            <a:avLst>
              <a:gd name="adj" fmla="val 4938"/>
            </a:avLst>
          </a:prstGeom>
          <a:solidFill>
            <a:schemeClr val="accent3"/>
          </a:solidFill>
          <a:ln w="12700">
            <a:solidFill>
              <a:schemeClr val="bg1"/>
            </a:solidFill>
            <a:prstDash val="solid"/>
          </a:ln>
        </p:spPr>
        <p:txBody>
          <a:bodyPr/>
          <a:lstStyle/>
          <a:p>
            <a:endParaRPr lang="en-US"/>
          </a:p>
        </p:txBody>
      </p:sp>
      <p:sp>
        <p:nvSpPr>
          <p:cNvPr id="13" name="Text 11"/>
          <p:cNvSpPr txBox="1"/>
          <p:nvPr/>
        </p:nvSpPr>
        <p:spPr>
          <a:xfrm>
            <a:off x="5522976" y="1554480"/>
            <a:ext cx="1298448" cy="457200"/>
          </a:xfrm>
          <a:prstGeom prst="rect">
            <a:avLst/>
          </a:prstGeom>
          <a:noFill/>
          <a:ln/>
        </p:spPr>
        <p:txBody>
          <a:bodyPr wrap="square" lIns="0" tIns="0" rIns="0" bIns="0" rtlCol="0" anchor="ctr"/>
          <a:lstStyle/>
          <a:p>
            <a:pPr marL="0" indent="0">
              <a:buNone/>
            </a:pPr>
            <a:r>
              <a:rPr lang="en-US" sz="1400" b="1" dirty="0">
                <a:solidFill>
                  <a:schemeClr val="bg1"/>
                </a:solidFill>
              </a:rPr>
              <a:t>4  Retrieve</a:t>
            </a:r>
            <a:endParaRPr lang="en-US" sz="1400" dirty="0"/>
          </a:p>
        </p:txBody>
      </p:sp>
      <p:sp>
        <p:nvSpPr>
          <p:cNvPr id="14" name="Text 12"/>
          <p:cNvSpPr txBox="1"/>
          <p:nvPr/>
        </p:nvSpPr>
        <p:spPr>
          <a:xfrm>
            <a:off x="5522976" y="2057400"/>
            <a:ext cx="1298448" cy="1371600"/>
          </a:xfrm>
          <a:prstGeom prst="rect">
            <a:avLst/>
          </a:prstGeom>
          <a:noFill/>
          <a:ln/>
        </p:spPr>
        <p:txBody>
          <a:bodyPr wrap="square" lIns="0" tIns="0" rIns="0" bIns="0" rtlCol="0" anchor="t"/>
          <a:lstStyle/>
          <a:p>
            <a:pPr marL="0" indent="0">
              <a:buNone/>
            </a:pPr>
            <a:r>
              <a:rPr lang="en-US" sz="1100" dirty="0">
                <a:solidFill>
                  <a:schemeClr val="bg1"/>
                </a:solidFill>
              </a:rPr>
              <a:t>Follow-up -&gt; standalone query -&gt; top-k cosine search</a:t>
            </a:r>
            <a:endParaRPr lang="en-US" sz="1100" dirty="0"/>
          </a:p>
        </p:txBody>
      </p:sp>
      <p:sp>
        <p:nvSpPr>
          <p:cNvPr id="15" name="step"/>
          <p:cNvSpPr/>
          <p:nvPr/>
        </p:nvSpPr>
        <p:spPr>
          <a:xfrm>
            <a:off x="7059168" y="1463040"/>
            <a:ext cx="1481328" cy="2103120"/>
          </a:xfrm>
          <a:prstGeom prst="roundRect">
            <a:avLst>
              <a:gd name="adj" fmla="val 4938"/>
            </a:avLst>
          </a:prstGeom>
          <a:solidFill>
            <a:schemeClr val="accent1"/>
          </a:solidFill>
          <a:ln w="12700">
            <a:solidFill>
              <a:schemeClr val="bg1"/>
            </a:solidFill>
            <a:prstDash val="solid"/>
          </a:ln>
        </p:spPr>
        <p:txBody>
          <a:bodyPr/>
          <a:lstStyle/>
          <a:p>
            <a:endParaRPr lang="en-US"/>
          </a:p>
        </p:txBody>
      </p:sp>
      <p:sp>
        <p:nvSpPr>
          <p:cNvPr id="16" name="Text 14"/>
          <p:cNvSpPr txBox="1"/>
          <p:nvPr/>
        </p:nvSpPr>
        <p:spPr>
          <a:xfrm>
            <a:off x="7150608" y="1554480"/>
            <a:ext cx="1298448" cy="457200"/>
          </a:xfrm>
          <a:prstGeom prst="rect">
            <a:avLst/>
          </a:prstGeom>
          <a:noFill/>
          <a:ln/>
        </p:spPr>
        <p:txBody>
          <a:bodyPr wrap="square" lIns="0" tIns="0" rIns="0" bIns="0" rtlCol="0" anchor="ctr"/>
          <a:lstStyle/>
          <a:p>
            <a:pPr marL="0" indent="0">
              <a:buNone/>
            </a:pPr>
            <a:r>
              <a:rPr lang="en-US" sz="1400" b="1" dirty="0">
                <a:solidFill>
                  <a:schemeClr val="bg1"/>
                </a:solidFill>
              </a:rPr>
              <a:t>5  Answer</a:t>
            </a:r>
            <a:endParaRPr lang="en-US" sz="1400" dirty="0"/>
          </a:p>
        </p:txBody>
      </p:sp>
      <p:sp>
        <p:nvSpPr>
          <p:cNvPr id="17" name="Text 15"/>
          <p:cNvSpPr txBox="1"/>
          <p:nvPr/>
        </p:nvSpPr>
        <p:spPr>
          <a:xfrm>
            <a:off x="7150608" y="2057400"/>
            <a:ext cx="1298448" cy="1371600"/>
          </a:xfrm>
          <a:prstGeom prst="rect">
            <a:avLst/>
          </a:prstGeom>
          <a:noFill/>
          <a:ln/>
        </p:spPr>
        <p:txBody>
          <a:bodyPr wrap="square" lIns="0" tIns="0" rIns="0" bIns="0" rtlCol="0" anchor="t"/>
          <a:lstStyle/>
          <a:p>
            <a:pPr marL="0" indent="0">
              <a:buNone/>
            </a:pPr>
            <a:r>
              <a:rPr lang="en-US" sz="1100" dirty="0">
                <a:solidFill>
                  <a:schemeClr val="bg1"/>
                </a:solidFill>
              </a:rPr>
              <a:t>LLM answers with [n] citations; UI shows chunks</a:t>
            </a:r>
            <a:endParaRPr lang="en-US" sz="1100" dirty="0"/>
          </a:p>
        </p:txBody>
      </p:sp>
      <p:sp>
        <p:nvSpPr>
          <p:cNvPr id="18" name="Text 16"/>
          <p:cNvSpPr txBox="1"/>
          <p:nvPr/>
        </p:nvSpPr>
        <p:spPr>
          <a:xfrm>
            <a:off x="548640" y="3931920"/>
            <a:ext cx="8046720" cy="548640"/>
          </a:xfrm>
          <a:prstGeom prst="rect">
            <a:avLst/>
          </a:prstGeom>
          <a:noFill/>
          <a:ln/>
        </p:spPr>
        <p:txBody>
          <a:bodyPr wrap="square" lIns="0" tIns="0" rIns="0" bIns="0" rtlCol="0" anchor="ctr"/>
          <a:lstStyle/>
          <a:p>
            <a:pPr marL="0" indent="0">
              <a:buNone/>
            </a:pPr>
            <a:r>
              <a:rPr lang="en-US" sz="1300" dirty="0">
                <a:solidFill>
                  <a:schemeClr val="tx1"/>
                </a:solidFill>
              </a:rPr>
              <a:t>Multi-document: one index over every file; tick documents to narrow scope.  Conversation: history is used only to rewrite the query.</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2800" b="1" dirty="0">
                <a:solidFill>
                  <a:schemeClr val="tx2"/>
                </a:solidFill>
              </a:rPr>
              <a:t>Source tracing: how an answer is verified</a:t>
            </a:r>
            <a:endParaRPr lang="en-US" sz="2800" dirty="0"/>
          </a:p>
        </p:txBody>
      </p:sp>
      <p:sp>
        <p:nvSpPr>
          <p:cNvPr id="3" name="Text 1"/>
          <p:cNvSpPr txBox="1"/>
          <p:nvPr/>
        </p:nvSpPr>
        <p:spPr>
          <a:xfrm>
            <a:off x="548640" y="1280160"/>
            <a:ext cx="4206240" cy="3017520"/>
          </a:xfrm>
          <a:prstGeom prst="rect">
            <a:avLst/>
          </a:prstGeom>
          <a:noFill/>
          <a:ln/>
        </p:spPr>
        <p:txBody>
          <a:bodyPr wrap="square" rtlCol="0" anchor="t"/>
          <a:lstStyle/>
          <a:p>
            <a:pPr marL="342900" indent="-342900">
              <a:spcAft>
                <a:spcPts val="1000"/>
              </a:spcAft>
              <a:buSzPct val="100000"/>
              <a:buChar char="•"/>
            </a:pPr>
            <a:r>
              <a:rPr lang="en-US" sz="1400" dirty="0">
                <a:solidFill>
                  <a:schemeClr val="tx1"/>
                </a:solidFill>
              </a:rPr>
              <a:t>Chunk metadata travels with every vector: doc name, page/heading, chunk index.</a:t>
            </a:r>
            <a:endParaRPr lang="en-US" sz="1400" dirty="0"/>
          </a:p>
          <a:p>
            <a:pPr marL="342900" indent="-342900">
              <a:spcAft>
                <a:spcPts val="1000"/>
              </a:spcAft>
              <a:buSzPct val="100000"/>
              <a:buChar char="•"/>
            </a:pPr>
            <a:r>
              <a:rPr lang="en-US" sz="1400" dirty="0">
                <a:solidFill>
                  <a:schemeClr val="tx1"/>
                </a:solidFill>
              </a:rPr>
              <a:t>Retrieved passages are numbered [1]..[k] in the prompt; the model must cite them.</a:t>
            </a:r>
            <a:endParaRPr lang="en-US" sz="1400" dirty="0"/>
          </a:p>
          <a:p>
            <a:pPr marL="342900" indent="-342900">
              <a:spcAft>
                <a:spcPts val="1000"/>
              </a:spcAft>
              <a:buSzPct val="100000"/>
              <a:buChar char="•"/>
            </a:pPr>
            <a:r>
              <a:rPr lang="en-US" sz="1400" dirty="0">
                <a:solidFill>
                  <a:schemeClr val="tx1"/>
                </a:solidFill>
              </a:rPr>
              <a:t>UI shows each passage with file, page and similarity score - and the rewritten search query.</a:t>
            </a:r>
            <a:endParaRPr lang="en-US" sz="1400" dirty="0"/>
          </a:p>
          <a:p>
            <a:pPr marL="342900" indent="-342900">
              <a:spcAft>
                <a:spcPts val="1000"/>
              </a:spcAft>
              <a:buSzPct val="100000"/>
              <a:buChar char="•"/>
            </a:pPr>
            <a:r>
              <a:rPr lang="en-US" sz="1400" dirty="0">
                <a:solidFill>
                  <a:schemeClr val="tx1"/>
                </a:solidFill>
              </a:rPr>
              <a:t>Min-similarity filter + fixed fallback sentence prevent answers from thin evidence.</a:t>
            </a:r>
            <a:endParaRPr lang="en-US" sz="1400" dirty="0"/>
          </a:p>
        </p:txBody>
      </p:sp>
      <p:sp>
        <p:nvSpPr>
          <p:cNvPr id="4" name="example"/>
          <p:cNvSpPr/>
          <p:nvPr/>
        </p:nvSpPr>
        <p:spPr>
          <a:xfrm>
            <a:off x="5029200" y="1280160"/>
            <a:ext cx="3566160" cy="2834640"/>
          </a:xfrm>
          <a:prstGeom prst="rect">
            <a:avLst/>
          </a:prstGeom>
          <a:solidFill>
            <a:schemeClr val="bg2"/>
          </a:solidFill>
          <a:ln w="12700">
            <a:solidFill>
              <a:schemeClr val="accent4"/>
            </a:solidFill>
            <a:prstDash val="solid"/>
          </a:ln>
        </p:spPr>
        <p:txBody>
          <a:bodyPr/>
          <a:lstStyle/>
          <a:p>
            <a:endParaRPr lang="en-US"/>
          </a:p>
        </p:txBody>
      </p:sp>
      <p:sp>
        <p:nvSpPr>
          <p:cNvPr id="5" name="Text 3"/>
          <p:cNvSpPr txBox="1"/>
          <p:nvPr/>
        </p:nvSpPr>
        <p:spPr>
          <a:xfrm>
            <a:off x="5212080" y="1371600"/>
            <a:ext cx="3200400" cy="365760"/>
          </a:xfrm>
          <a:prstGeom prst="rect">
            <a:avLst/>
          </a:prstGeom>
          <a:noFill/>
          <a:ln/>
        </p:spPr>
        <p:txBody>
          <a:bodyPr wrap="square" lIns="0" tIns="0" rIns="0" bIns="0" rtlCol="0" anchor="ctr"/>
          <a:lstStyle/>
          <a:p>
            <a:pPr marL="0" indent="0">
              <a:buNone/>
            </a:pPr>
            <a:r>
              <a:rPr lang="en-US" sz="1200" b="1" dirty="0">
                <a:solidFill>
                  <a:schemeClr val="tx2"/>
                </a:solidFill>
              </a:rPr>
              <a:t>Q: What is the home office stipend?</a:t>
            </a:r>
            <a:endParaRPr lang="en-US" sz="1200" dirty="0"/>
          </a:p>
        </p:txBody>
      </p:sp>
      <p:sp>
        <p:nvSpPr>
          <p:cNvPr id="6" name="Text 4"/>
          <p:cNvSpPr txBox="1"/>
          <p:nvPr/>
        </p:nvSpPr>
        <p:spPr>
          <a:xfrm>
            <a:off x="5212080" y="1783080"/>
            <a:ext cx="3200400" cy="457200"/>
          </a:xfrm>
          <a:prstGeom prst="rect">
            <a:avLst/>
          </a:prstGeom>
          <a:noFill/>
          <a:ln/>
        </p:spPr>
        <p:txBody>
          <a:bodyPr wrap="square" lIns="0" tIns="0" rIns="0" bIns="0" rtlCol="0" anchor="ctr"/>
          <a:lstStyle/>
          <a:p>
            <a:pPr marL="0" indent="0">
              <a:buNone/>
            </a:pPr>
            <a:r>
              <a:rPr lang="en-US" sz="1200" dirty="0">
                <a:solidFill>
                  <a:schemeClr val="tx1"/>
                </a:solidFill>
              </a:rPr>
              <a:t>A: One-time stipend of 600 euros [1].</a:t>
            </a:r>
            <a:endParaRPr lang="en-US" sz="1200" dirty="0"/>
          </a:p>
        </p:txBody>
      </p:sp>
      <p:sp>
        <p:nvSpPr>
          <p:cNvPr id="7" name="Text 5"/>
          <p:cNvSpPr txBox="1"/>
          <p:nvPr/>
        </p:nvSpPr>
        <p:spPr>
          <a:xfrm>
            <a:off x="5212080" y="2377440"/>
            <a:ext cx="3200400" cy="1554480"/>
          </a:xfrm>
          <a:prstGeom prst="rect">
            <a:avLst/>
          </a:prstGeom>
          <a:noFill/>
          <a:ln/>
        </p:spPr>
        <p:txBody>
          <a:bodyPr wrap="square" lIns="0" tIns="0" rIns="0" bIns="0" rtlCol="0" anchor="t"/>
          <a:lstStyle/>
          <a:p>
            <a:pPr marL="0" indent="0">
              <a:buNone/>
            </a:pPr>
            <a:r>
              <a:rPr lang="en-US" sz="1100" i="1" dirty="0">
                <a:solidFill>
                  <a:schemeClr val="accent6"/>
                </a:solidFill>
              </a:rPr>
              <a:t>[1] remote_work_policy.docx · Equipment and expenses · similarity score</a:t>
            </a:r>
            <a:endParaRPr lang="en-US" sz="1100" dirty="0"/>
          </a:p>
          <a:p>
            <a:pPr marL="0" indent="0">
              <a:buNone/>
            </a:pPr>
            <a:r>
              <a:rPr lang="en-US" sz="1100" i="1" dirty="0">
                <a:solidFill>
                  <a:schemeClr val="accent6"/>
                </a:solidFill>
              </a:rPr>
              <a:t>"...a one-time home office stipend of 600 euros and a monthly internet allowance of 35 euros..."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8DB95-C9D6-53CD-2CC9-B3E66B6177E8}"/>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96147232-79BC-37B1-08D6-D422AD588221}"/>
              </a:ext>
            </a:extLst>
          </p:cNvPr>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5</a:t>
            </a:fld>
            <a:endParaRPr lang="en-US"/>
          </a:p>
        </p:txBody>
      </p:sp>
      <p:pic>
        <p:nvPicPr>
          <p:cNvPr id="9" name="Picture 8">
            <a:extLst>
              <a:ext uri="{FF2B5EF4-FFF2-40B4-BE49-F238E27FC236}">
                <a16:creationId xmlns:a16="http://schemas.microsoft.com/office/drawing/2014/main" id="{C3E606FA-EF18-F419-9B2A-012FBAEB2FE3}"/>
              </a:ext>
            </a:extLst>
          </p:cNvPr>
          <p:cNvPicPr>
            <a:picLocks noChangeAspect="1"/>
          </p:cNvPicPr>
          <p:nvPr/>
        </p:nvPicPr>
        <p:blipFill>
          <a:blip r:embed="rId3"/>
          <a:stretch>
            <a:fillRect/>
          </a:stretch>
        </p:blipFill>
        <p:spPr>
          <a:xfrm>
            <a:off x="0" y="0"/>
            <a:ext cx="9041869" cy="5143500"/>
          </a:xfrm>
          <a:prstGeom prst="rect">
            <a:avLst/>
          </a:prstGeom>
        </p:spPr>
      </p:pic>
      <p:sp>
        <p:nvSpPr>
          <p:cNvPr id="2" name="Text 0">
            <a:extLst>
              <a:ext uri="{FF2B5EF4-FFF2-40B4-BE49-F238E27FC236}">
                <a16:creationId xmlns:a16="http://schemas.microsoft.com/office/drawing/2014/main" id="{AB965BDA-744A-821A-F228-A8D61CAF4E03}"/>
              </a:ext>
            </a:extLst>
          </p:cNvPr>
          <p:cNvSpPr txBox="1"/>
          <p:nvPr/>
        </p:nvSpPr>
        <p:spPr>
          <a:xfrm>
            <a:off x="7435138" y="0"/>
            <a:ext cx="1606731" cy="431074"/>
          </a:xfrm>
          <a:prstGeom prst="rect">
            <a:avLst/>
          </a:prstGeom>
          <a:noFill/>
          <a:ln/>
        </p:spPr>
        <p:txBody>
          <a:bodyPr wrap="square" lIns="0" tIns="0" rIns="0" bIns="0" rtlCol="0" anchor="ctr"/>
          <a:lstStyle/>
          <a:p>
            <a:pPr marL="0" indent="0">
              <a:buNone/>
            </a:pPr>
            <a:r>
              <a:rPr lang="tr-TR" sz="2400" b="1" dirty="0" err="1">
                <a:solidFill>
                  <a:schemeClr val="tx2"/>
                </a:solidFill>
              </a:rPr>
              <a:t>Interface</a:t>
            </a:r>
            <a:endParaRPr lang="en-US" sz="2400" dirty="0"/>
          </a:p>
        </p:txBody>
      </p:sp>
    </p:spTree>
    <p:extLst>
      <p:ext uri="{BB962C8B-B14F-4D97-AF65-F5344CB8AC3E}">
        <p14:creationId xmlns:p14="http://schemas.microsoft.com/office/powerpoint/2010/main" val="910616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2800" b="1" dirty="0">
                <a:solidFill>
                  <a:schemeClr val="tx2"/>
                </a:solidFill>
              </a:rPr>
              <a:t>Evaluation: chunking strategy matters</a:t>
            </a:r>
            <a:endParaRPr lang="en-US" sz="2800" dirty="0"/>
          </a:p>
        </p:txBody>
      </p:sp>
      <p:graphicFrame>
        <p:nvGraphicFramePr>
          <p:cNvPr id="3" name="Chart 0"/>
          <p:cNvGraphicFramePr/>
          <p:nvPr/>
        </p:nvGraphicFramePr>
        <p:xfrm>
          <a:off x="548640" y="1188720"/>
          <a:ext cx="47548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5486400" y="1371600"/>
            <a:ext cx="3200400" cy="3108960"/>
          </a:xfrm>
          <a:prstGeom prst="rect">
            <a:avLst/>
          </a:prstGeom>
          <a:noFill/>
          <a:ln/>
        </p:spPr>
        <p:txBody>
          <a:bodyPr wrap="square" rtlCol="0" anchor="t"/>
          <a:lstStyle/>
          <a:p>
            <a:pPr marL="342900" indent="-342900">
              <a:spcAft>
                <a:spcPts val="800"/>
              </a:spcAft>
              <a:buSzPct val="100000"/>
              <a:buChar char="•"/>
            </a:pPr>
            <a:r>
              <a:rPr lang="en-US" sz="1250" dirty="0">
                <a:solidFill>
                  <a:schemeClr val="tx1"/>
                </a:solidFill>
              </a:rPr>
              <a:t>18 questions, 3 documents (PDF/DOCX/TXT)</a:t>
            </a:r>
            <a:endParaRPr lang="en-US" sz="1250" dirty="0"/>
          </a:p>
          <a:p>
            <a:pPr marL="342900" indent="-342900">
              <a:spcAft>
                <a:spcPts val="800"/>
              </a:spcAft>
              <a:buSzPct val="100000"/>
              <a:buChar char="•"/>
            </a:pPr>
            <a:r>
              <a:rPr lang="en-US" sz="1250" dirty="0">
                <a:solidFill>
                  <a:schemeClr val="tx1"/>
                </a:solidFill>
              </a:rPr>
              <a:t>Sentence-aware chunks beat fixed windows by ~15 pts Hit@3</a:t>
            </a:r>
            <a:endParaRPr lang="en-US" sz="1250" dirty="0"/>
          </a:p>
          <a:p>
            <a:pPr marL="342900" indent="-342900">
              <a:spcAft>
                <a:spcPts val="800"/>
              </a:spcAft>
              <a:buSzPct val="100000"/>
              <a:buChar char="•"/>
            </a:pPr>
            <a:r>
              <a:rPr lang="en-US" sz="1250" dirty="0">
                <a:solidFill>
                  <a:schemeClr val="tx1"/>
                </a:solidFill>
              </a:rPr>
              <a:t>Best: sentence, 600 chars -&gt; Hit@3 0.94, MRR 0.85</a:t>
            </a:r>
            <a:endParaRPr lang="en-US" sz="1250" dirty="0"/>
          </a:p>
          <a:p>
            <a:pPr marL="342900" indent="-342900">
              <a:spcAft>
                <a:spcPts val="800"/>
              </a:spcAft>
              <a:buSzPct val="100000"/>
              <a:buChar char="•"/>
            </a:pPr>
            <a:r>
              <a:rPr lang="en-US" sz="1250" dirty="0">
                <a:solidFill>
                  <a:schemeClr val="tx1"/>
                </a:solidFill>
              </a:rPr>
              <a:t>Overlap ~neutral on short paragraphs; helps fixed windows</a:t>
            </a:r>
            <a:endParaRPr lang="en-US" sz="1250" dirty="0"/>
          </a:p>
          <a:p>
            <a:pPr marL="342900" indent="-342900">
              <a:spcAft>
                <a:spcPts val="800"/>
              </a:spcAft>
              <a:buSzPct val="100000"/>
              <a:buChar char="•"/>
            </a:pPr>
            <a:r>
              <a:rPr lang="en-US" sz="1250" dirty="0">
                <a:solidFill>
                  <a:schemeClr val="tx1"/>
                </a:solidFill>
              </a:rPr>
              <a:t>Rerun with MiniLM / Ollama / OpenAI via run_eval.py</a:t>
            </a:r>
            <a:endParaRPr lang="en-US" sz="12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2800" b="1" dirty="0">
                <a:solidFill>
                  <a:schemeClr val="tx2"/>
                </a:solidFill>
              </a:rPr>
              <a:t>Local vs cloud, and limits</a:t>
            </a:r>
            <a:endParaRPr lang="en-US" sz="2800" dirty="0"/>
          </a:p>
        </p:txBody>
      </p:sp>
      <p:sp>
        <p:nvSpPr>
          <p:cNvPr id="3" name="card"/>
          <p:cNvSpPr/>
          <p:nvPr/>
        </p:nvSpPr>
        <p:spPr>
          <a:xfrm>
            <a:off x="548640" y="1280160"/>
            <a:ext cx="3840480" cy="1554480"/>
          </a:xfrm>
          <a:prstGeom prst="rect">
            <a:avLst/>
          </a:prstGeom>
          <a:solidFill>
            <a:schemeClr val="bg2"/>
          </a:solidFill>
          <a:ln w="12700">
            <a:solidFill>
              <a:schemeClr val="bg2"/>
            </a:solidFill>
            <a:prstDash val="solid"/>
          </a:ln>
        </p:spPr>
        <p:txBody>
          <a:bodyPr/>
          <a:lstStyle/>
          <a:p>
            <a:endParaRPr lang="en-US"/>
          </a:p>
        </p:txBody>
      </p:sp>
      <p:sp>
        <p:nvSpPr>
          <p:cNvPr id="4" name="Shape 2"/>
          <p:cNvSpPr/>
          <p:nvPr/>
        </p:nvSpPr>
        <p:spPr>
          <a:xfrm>
            <a:off x="548640" y="1280160"/>
            <a:ext cx="54864" cy="1554480"/>
          </a:xfrm>
          <a:prstGeom prst="rect">
            <a:avLst/>
          </a:prstGeom>
          <a:solidFill>
            <a:schemeClr val="accent3"/>
          </a:solidFill>
          <a:ln w="12700">
            <a:solidFill>
              <a:schemeClr val="accent3"/>
            </a:solidFill>
            <a:prstDash val="solid"/>
          </a:ln>
        </p:spPr>
        <p:txBody>
          <a:bodyPr/>
          <a:lstStyle/>
          <a:p>
            <a:endParaRPr lang="en-US"/>
          </a:p>
        </p:txBody>
      </p:sp>
      <p:sp>
        <p:nvSpPr>
          <p:cNvPr id="5" name="Text 3"/>
          <p:cNvSpPr txBox="1"/>
          <p:nvPr/>
        </p:nvSpPr>
        <p:spPr>
          <a:xfrm>
            <a:off x="731520" y="1371600"/>
            <a:ext cx="3566160" cy="365760"/>
          </a:xfrm>
          <a:prstGeom prst="rect">
            <a:avLst/>
          </a:prstGeom>
          <a:noFill/>
          <a:ln/>
        </p:spPr>
        <p:txBody>
          <a:bodyPr wrap="square" lIns="0" tIns="0" rIns="0" bIns="0" rtlCol="0" anchor="ctr"/>
          <a:lstStyle/>
          <a:p>
            <a:pPr marL="0" indent="0">
              <a:buNone/>
            </a:pPr>
            <a:r>
              <a:rPr lang="en-US" sz="1500" b="1" dirty="0">
                <a:solidFill>
                  <a:schemeClr val="tx2"/>
                </a:solidFill>
              </a:rPr>
              <a:t>Local: Ollama qwen2.5:3b</a:t>
            </a:r>
            <a:endParaRPr lang="en-US" sz="1500" dirty="0"/>
          </a:p>
        </p:txBody>
      </p:sp>
      <p:sp>
        <p:nvSpPr>
          <p:cNvPr id="6" name="Text 4"/>
          <p:cNvSpPr txBox="1"/>
          <p:nvPr/>
        </p:nvSpPr>
        <p:spPr>
          <a:xfrm>
            <a:off x="731520" y="1755648"/>
            <a:ext cx="3566160" cy="1005840"/>
          </a:xfrm>
          <a:prstGeom prst="rect">
            <a:avLst/>
          </a:prstGeom>
          <a:noFill/>
          <a:ln/>
        </p:spPr>
        <p:txBody>
          <a:bodyPr wrap="square" lIns="0" tIns="0" rIns="0" bIns="0" rtlCol="0" anchor="t"/>
          <a:lstStyle/>
          <a:p>
            <a:pPr marL="0" indent="0">
              <a:buNone/>
            </a:pPr>
            <a:r>
              <a:rPr lang="en-US" sz="1200" dirty="0">
                <a:solidFill>
                  <a:schemeClr val="tx1"/>
                </a:solidFill>
              </a:rPr>
              <a:t>Private, free, offline. Best with top-k 3-5 and chunks &lt;= 800 chars; weaker at multi-step reasoning.</a:t>
            </a:r>
            <a:endParaRPr lang="en-US" sz="1200" dirty="0"/>
          </a:p>
        </p:txBody>
      </p:sp>
      <p:sp>
        <p:nvSpPr>
          <p:cNvPr id="7" name="card"/>
          <p:cNvSpPr/>
          <p:nvPr/>
        </p:nvSpPr>
        <p:spPr>
          <a:xfrm>
            <a:off x="4754880" y="1280160"/>
            <a:ext cx="3840480" cy="1554480"/>
          </a:xfrm>
          <a:prstGeom prst="rect">
            <a:avLst/>
          </a:prstGeom>
          <a:solidFill>
            <a:schemeClr val="bg2"/>
          </a:solidFill>
          <a:ln w="12700">
            <a:solidFill>
              <a:schemeClr val="bg2"/>
            </a:solidFill>
            <a:prstDash val="solid"/>
          </a:ln>
        </p:spPr>
        <p:txBody>
          <a:bodyPr/>
          <a:lstStyle/>
          <a:p>
            <a:endParaRPr lang="en-US"/>
          </a:p>
        </p:txBody>
      </p:sp>
      <p:sp>
        <p:nvSpPr>
          <p:cNvPr id="8" name="Shape 6"/>
          <p:cNvSpPr/>
          <p:nvPr/>
        </p:nvSpPr>
        <p:spPr>
          <a:xfrm>
            <a:off x="4754880" y="1280160"/>
            <a:ext cx="54864" cy="1554480"/>
          </a:xfrm>
          <a:prstGeom prst="rect">
            <a:avLst/>
          </a:prstGeom>
          <a:solidFill>
            <a:schemeClr val="accent6"/>
          </a:solidFill>
          <a:ln w="12700">
            <a:solidFill>
              <a:schemeClr val="accent6"/>
            </a:solidFill>
            <a:prstDash val="solid"/>
          </a:ln>
        </p:spPr>
        <p:txBody>
          <a:bodyPr/>
          <a:lstStyle/>
          <a:p>
            <a:endParaRPr lang="en-US"/>
          </a:p>
        </p:txBody>
      </p:sp>
      <p:sp>
        <p:nvSpPr>
          <p:cNvPr id="9" name="Text 7"/>
          <p:cNvSpPr txBox="1"/>
          <p:nvPr/>
        </p:nvSpPr>
        <p:spPr>
          <a:xfrm>
            <a:off x="4937760" y="1371600"/>
            <a:ext cx="3566160" cy="365760"/>
          </a:xfrm>
          <a:prstGeom prst="rect">
            <a:avLst/>
          </a:prstGeom>
          <a:noFill/>
          <a:ln/>
        </p:spPr>
        <p:txBody>
          <a:bodyPr wrap="square" lIns="0" tIns="0" rIns="0" bIns="0" rtlCol="0" anchor="ctr"/>
          <a:lstStyle/>
          <a:p>
            <a:pPr marL="0" indent="0">
              <a:buNone/>
            </a:pPr>
            <a:r>
              <a:rPr lang="en-US" sz="1500" b="1" dirty="0">
                <a:solidFill>
                  <a:schemeClr val="tx2"/>
                </a:solidFill>
              </a:rPr>
              <a:t>Cloud: OpenAI</a:t>
            </a:r>
            <a:endParaRPr lang="en-US" sz="1500" dirty="0"/>
          </a:p>
        </p:txBody>
      </p:sp>
      <p:sp>
        <p:nvSpPr>
          <p:cNvPr id="10" name="Text 8"/>
          <p:cNvSpPr txBox="1"/>
          <p:nvPr/>
        </p:nvSpPr>
        <p:spPr>
          <a:xfrm>
            <a:off x="4937760" y="1755648"/>
            <a:ext cx="3566160" cy="1005840"/>
          </a:xfrm>
          <a:prstGeom prst="rect">
            <a:avLst/>
          </a:prstGeom>
          <a:noFill/>
          <a:ln/>
        </p:spPr>
        <p:txBody>
          <a:bodyPr wrap="square" lIns="0" tIns="0" rIns="0" bIns="0" rtlCol="0" anchor="t"/>
          <a:lstStyle/>
          <a:p>
            <a:pPr marL="0" indent="0">
              <a:buNone/>
            </a:pPr>
            <a:r>
              <a:rPr lang="en-US" sz="1200" dirty="0">
                <a:solidFill>
                  <a:schemeClr val="tx1"/>
                </a:solidFill>
              </a:rPr>
              <a:t>Stronger reasoning and embeddings; costs money and sends text to a third party.</a:t>
            </a:r>
            <a:endParaRPr lang="en-US" sz="1200" dirty="0"/>
          </a:p>
        </p:txBody>
      </p:sp>
      <p:sp>
        <p:nvSpPr>
          <p:cNvPr id="11" name="card"/>
          <p:cNvSpPr/>
          <p:nvPr/>
        </p:nvSpPr>
        <p:spPr>
          <a:xfrm>
            <a:off x="548640" y="3017520"/>
            <a:ext cx="8046720" cy="1371600"/>
          </a:xfrm>
          <a:prstGeom prst="rect">
            <a:avLst/>
          </a:prstGeom>
          <a:solidFill>
            <a:schemeClr val="bg2"/>
          </a:solidFill>
          <a:ln w="12700">
            <a:solidFill>
              <a:schemeClr val="bg2"/>
            </a:solidFill>
            <a:prstDash val="solid"/>
          </a:ln>
        </p:spPr>
        <p:txBody>
          <a:bodyPr/>
          <a:lstStyle/>
          <a:p>
            <a:endParaRPr lang="en-US"/>
          </a:p>
        </p:txBody>
      </p:sp>
      <p:sp>
        <p:nvSpPr>
          <p:cNvPr id="12" name="Shape 10"/>
          <p:cNvSpPr/>
          <p:nvPr/>
        </p:nvSpPr>
        <p:spPr>
          <a:xfrm>
            <a:off x="548640" y="3017520"/>
            <a:ext cx="54864" cy="1371600"/>
          </a:xfrm>
          <a:prstGeom prst="rect">
            <a:avLst/>
          </a:prstGeom>
          <a:solidFill>
            <a:schemeClr val="accent2"/>
          </a:solidFill>
          <a:ln w="12700">
            <a:solidFill>
              <a:schemeClr val="accent2"/>
            </a:solidFill>
            <a:prstDash val="solid"/>
          </a:ln>
        </p:spPr>
        <p:txBody>
          <a:bodyPr/>
          <a:lstStyle/>
          <a:p>
            <a:endParaRPr lang="en-US"/>
          </a:p>
        </p:txBody>
      </p:sp>
      <p:sp>
        <p:nvSpPr>
          <p:cNvPr id="13" name="Text 11"/>
          <p:cNvSpPr txBox="1"/>
          <p:nvPr/>
        </p:nvSpPr>
        <p:spPr>
          <a:xfrm>
            <a:off x="731520" y="3108960"/>
            <a:ext cx="7772400" cy="365760"/>
          </a:xfrm>
          <a:prstGeom prst="rect">
            <a:avLst/>
          </a:prstGeom>
          <a:noFill/>
          <a:ln/>
        </p:spPr>
        <p:txBody>
          <a:bodyPr wrap="square" lIns="0" tIns="0" rIns="0" bIns="0" rtlCol="0" anchor="ctr"/>
          <a:lstStyle/>
          <a:p>
            <a:pPr marL="0" indent="0">
              <a:buNone/>
            </a:pPr>
            <a:r>
              <a:rPr lang="en-US" sz="1500" b="1" dirty="0">
                <a:solidFill>
                  <a:schemeClr val="tx2"/>
                </a:solidFill>
              </a:rPr>
              <a:t>Next steps</a:t>
            </a:r>
            <a:endParaRPr lang="en-US" sz="1500" dirty="0"/>
          </a:p>
        </p:txBody>
      </p:sp>
      <p:sp>
        <p:nvSpPr>
          <p:cNvPr id="14" name="Text 12"/>
          <p:cNvSpPr txBox="1"/>
          <p:nvPr/>
        </p:nvSpPr>
        <p:spPr>
          <a:xfrm>
            <a:off x="731520" y="3493008"/>
            <a:ext cx="7772400" cy="822960"/>
          </a:xfrm>
          <a:prstGeom prst="rect">
            <a:avLst/>
          </a:prstGeom>
          <a:noFill/>
          <a:ln/>
        </p:spPr>
        <p:txBody>
          <a:bodyPr wrap="square" lIns="0" tIns="0" rIns="0" bIns="0" rtlCol="0" anchor="t"/>
          <a:lstStyle/>
          <a:p>
            <a:pPr marL="0" indent="0">
              <a:buNone/>
            </a:pPr>
            <a:r>
              <a:rPr lang="en-US" sz="1200" dirty="0">
                <a:solidFill>
                  <a:schemeClr val="tx1"/>
                </a:solidFill>
              </a:rPr>
              <a:t>Hybrid BM25 + vector search, cross-encoder re-ranking, OCR for scanned PDFs, larger evaluation set with LLM-judged faithfulness.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RAG Reader">
  <a:themeElements>
    <a:clrScheme name="RAG Reader">
      <a:dk1>
        <a:srgbClr val="1F2A37"/>
      </a:dk1>
      <a:lt1>
        <a:srgbClr val="FFFFFF"/>
      </a:lt1>
      <a:dk2>
        <a:srgbClr val="0F3D3E"/>
      </a:dk2>
      <a:lt2>
        <a:srgbClr val="F3F6F4"/>
      </a:lt2>
      <a:accent1>
        <a:srgbClr val="0E7C7B"/>
      </a:accent1>
      <a:accent2>
        <a:srgbClr val="D17A22"/>
      </a:accent2>
      <a:accent3>
        <a:srgbClr val="5B8E7D"/>
      </a:accent3>
      <a:accent4>
        <a:srgbClr val="8A9BA8"/>
      </a:accent4>
      <a:accent5>
        <a:srgbClr val="B5483A"/>
      </a:accent5>
      <a:accent6>
        <a:srgbClr val="3E5C76"/>
      </a:accent6>
      <a:hlink>
        <a:srgbClr val="0E7C7B"/>
      </a:hlink>
      <a:folHlink>
        <a:srgbClr val="5B8E7D"/>
      </a:folHlink>
    </a:clrScheme>
    <a:fontScheme name="RAG Reade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1064</Words>
  <Application>Microsoft Office PowerPoint</Application>
  <PresentationFormat>On-screen Show (16:9)</PresentationFormat>
  <Paragraphs>68</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RAG Reader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Auto-Document Reader (RAG)</dc:title>
  <dc:subject>PptxGenJS Presentation</dc:subject>
  <dc:creator>PptxGenJS</dc:creator>
  <cp:lastModifiedBy>SHARIF AHMED</cp:lastModifiedBy>
  <cp:revision>2</cp:revision>
  <dcterms:created xsi:type="dcterms:W3CDTF">2026-10-10T08:57:06Z</dcterms:created>
  <dcterms:modified xsi:type="dcterms:W3CDTF">2026-10-23T08:19:10Z</dcterms:modified>
</cp:coreProperties>
</file>